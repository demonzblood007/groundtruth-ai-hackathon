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560320"/>
            <a:ext cx="365760" cy="16459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377440"/>
            <a:ext cx="10058400" cy="1371600"/>
          </a:xfrm>
          <a:prstGeom prst="rect">
            <a:avLst/>
          </a:prstGeom>
          <a:noFill/>
        </p:spPr>
        <p:txBody>
          <a:bodyPr wrap="none">
            <a:spAutoFit/>
          </a:bodyPr>
          <a:lstStyle/>
          <a:p>
            <a:pPr>
              <a:defRPr sz="4800" b="1">
                <a:solidFill>
                  <a:srgbClr val="FFFFFF"/>
                </a:solidFill>
              </a:defRPr>
            </a:pPr>
            <a:r>
              <a:t>H-OOI Analysis Report</a:t>
            </a:r>
          </a:p>
        </p:txBody>
      </p:sp>
      <p:sp>
        <p:nvSpPr>
          <p:cNvPr id="6" name="TextBox 5"/>
          <p:cNvSpPr txBox="1"/>
          <p:nvPr/>
        </p:nvSpPr>
        <p:spPr>
          <a:xfrm>
            <a:off x="731520" y="3931920"/>
            <a:ext cx="10058400" cy="914400"/>
          </a:xfrm>
          <a:prstGeom prst="rect">
            <a:avLst/>
          </a:prstGeom>
          <a:noFill/>
        </p:spPr>
        <p:txBody>
          <a:bodyPr wrap="none">
            <a:spAutoFit/>
          </a:bodyPr>
          <a:lstStyle/>
          <a:p>
            <a:pPr>
              <a:defRPr sz="2200">
                <a:solidFill>
                  <a:srgbClr val="10B981"/>
                </a:solidFill>
              </a:defRPr>
            </a:pPr>
            <a:r>
              <a:t>Dataset: bb164dce | 200 rows × 5 columns | December 03, 2025</a:t>
            </a:r>
          </a:p>
        </p:txBody>
      </p:sp>
      <p:sp>
        <p:nvSpPr>
          <p:cNvPr id="7" name="Rectangle 6"/>
          <p:cNvSpPr/>
          <p:nvPr/>
        </p:nvSpPr>
        <p:spPr>
          <a:xfrm>
            <a:off x="0" y="6720840"/>
            <a:ext cx="12191695" cy="1371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731520"/>
          </a:xfrm>
          <a:prstGeom prst="rect">
            <a:avLst/>
          </a:prstGeom>
          <a:noFill/>
        </p:spPr>
        <p:txBody>
          <a:bodyPr wrap="none">
            <a:spAutoFit/>
          </a:bodyPr>
          <a:lstStyle/>
          <a:p>
            <a:pPr>
              <a:defRPr sz="3200" b="1">
                <a:solidFill>
                  <a:srgbClr val="FFFFFF"/>
                </a:solidFill>
              </a:defRPr>
            </a:pPr>
            <a:r>
              <a:t>Executive Summary</a:t>
            </a:r>
          </a:p>
        </p:txBody>
      </p:sp>
      <p:sp>
        <p:nvSpPr>
          <p:cNvPr id="5" name="TextBox 4"/>
          <p:cNvSpPr txBox="1"/>
          <p:nvPr/>
        </p:nvSpPr>
        <p:spPr>
          <a:xfrm>
            <a:off x="548640" y="1645920"/>
            <a:ext cx="10972800" cy="1828800"/>
          </a:xfrm>
          <a:prstGeom prst="rect">
            <a:avLst/>
          </a:prstGeom>
          <a:noFill/>
        </p:spPr>
        <p:txBody>
          <a:bodyPr wrap="square">
            <a:spAutoFit/>
          </a:bodyPr>
          <a:lstStyle/>
          <a:p>
            <a:pPr>
              <a:defRPr sz="1600">
                <a:solidFill>
                  <a:srgbClr val="1A2E2A"/>
                </a:solidFill>
              </a:defRPr>
            </a:pPr>
            <a:r>
              <a:t>The analysis reveals that total sales across all observations reached $2,804.50, underscoring a solid revenue foundation. A significant highlight is the average TV advertising spend of $147.04, which correlates positively with sales performance, indicating effective allocation of marketing resources. Additionally, the highest sales observed from TV advertising reached $27.00, showcasing its potential as a key driver of revenue.</a:t>
            </a:r>
            <a:br/>
            <a:br/>
            <a:r>
              <a:t>While the median sales figure stands at $12.90, suggesting that half of the observations fall below this threshold, it raises a concern regarding the distribution of s...</a:t>
            </a:r>
          </a:p>
        </p:txBody>
      </p:sp>
      <p:sp>
        <p:nvSpPr>
          <p:cNvPr id="6" name="TextBox 5"/>
          <p:cNvSpPr txBox="1"/>
          <p:nvPr/>
        </p:nvSpPr>
        <p:spPr>
          <a:xfrm>
            <a:off x="548640" y="3657600"/>
            <a:ext cx="10972800" cy="2743200"/>
          </a:xfrm>
          <a:prstGeom prst="rect">
            <a:avLst/>
          </a:prstGeom>
          <a:noFill/>
        </p:spPr>
        <p:txBody>
          <a:bodyPr wrap="square">
            <a:spAutoFit/>
          </a:bodyPr>
          <a:lstStyle/>
          <a:p>
            <a:pPr>
              <a:spcBef>
                <a:spcPts val="1200"/>
              </a:spcBef>
              <a:spcAft>
                <a:spcPts val="800"/>
              </a:spcAft>
              <a:defRPr sz="1800">
                <a:solidFill>
                  <a:srgbClr val="1A2E2A"/>
                </a:solidFill>
              </a:defRPr>
            </a:pPr>
            <a:r>
              <a:t>→  The analysis reveals that total sales across all observations reached $2,804</a:t>
            </a:r>
          </a:p>
          <a:p>
            <a:pPr>
              <a:spcBef>
                <a:spcPts val="1200"/>
              </a:spcBef>
              <a:spcAft>
                <a:spcPts val="800"/>
              </a:spcAft>
              <a:defRPr sz="1800">
                <a:solidFill>
                  <a:srgbClr val="1A2E2A"/>
                </a:solidFill>
              </a:defRPr>
            </a:pPr>
            <a:r>
              <a:t>→  50, underscoring a solid revenue foundation</a:t>
            </a:r>
          </a:p>
          <a:p>
            <a:pPr>
              <a:spcBef>
                <a:spcPts val="1200"/>
              </a:spcBef>
              <a:spcAft>
                <a:spcPts val="800"/>
              </a:spcAft>
              <a:defRPr sz="1800">
                <a:solidFill>
                  <a:srgbClr val="1A2E2A"/>
                </a:solidFill>
              </a:defRPr>
            </a:pPr>
            <a:r>
              <a:t>→  A significant highlight is the average TV advertising spend of $147</a:t>
            </a:r>
          </a:p>
          <a:p>
            <a:pPr>
              <a:spcBef>
                <a:spcPts val="1200"/>
              </a:spcBef>
              <a:spcAft>
                <a:spcPts val="800"/>
              </a:spcAft>
              <a:defRPr sz="1800">
                <a:solidFill>
                  <a:srgbClr val="1A2E2A"/>
                </a:solidFill>
              </a:defRPr>
            </a:pPr>
            <a:r>
              <a:t>→  04, which correlates positively with sales performance, indicating effective allocation of marketing resources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731520"/>
          </a:xfrm>
          <a:prstGeom prst="rect">
            <a:avLst/>
          </a:prstGeom>
          <a:noFill/>
        </p:spPr>
        <p:txBody>
          <a:bodyPr wrap="none">
            <a:spAutoFit/>
          </a:bodyPr>
          <a:lstStyle/>
          <a:p>
            <a:pPr>
              <a:defRPr sz="3200" b="1">
                <a:solidFill>
                  <a:srgbClr val="FFFFFF"/>
                </a:solidFill>
              </a:defRPr>
            </a:pPr>
            <a:r>
              <a:t>Key Metrics</a:t>
            </a:r>
          </a:p>
        </p:txBody>
      </p:sp>
      <p:sp>
        <p:nvSpPr>
          <p:cNvPr id="5" name="Rounded Rectangle 4"/>
          <p:cNvSpPr/>
          <p:nvPr/>
        </p:nvSpPr>
        <p:spPr>
          <a:xfrm>
            <a:off x="1843887" y="2011680"/>
            <a:ext cx="2651760" cy="228600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43887" y="2011680"/>
            <a:ext cx="2651760"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43887" y="2377440"/>
            <a:ext cx="2651760" cy="914400"/>
          </a:xfrm>
          <a:prstGeom prst="rect">
            <a:avLst/>
          </a:prstGeom>
          <a:noFill/>
        </p:spPr>
        <p:txBody>
          <a:bodyPr wrap="none">
            <a:spAutoFit/>
          </a:bodyPr>
          <a:lstStyle/>
          <a:p>
            <a:pPr algn="ctr">
              <a:defRPr sz="2800" b="1">
                <a:solidFill>
                  <a:srgbClr val="059669"/>
                </a:solidFill>
              </a:defRPr>
            </a:pPr>
            <a:r>
              <a:t>$2,804.50</a:t>
            </a:r>
          </a:p>
        </p:txBody>
      </p:sp>
      <p:sp>
        <p:nvSpPr>
          <p:cNvPr id="8" name="TextBox 7"/>
          <p:cNvSpPr txBox="1"/>
          <p:nvPr/>
        </p:nvSpPr>
        <p:spPr>
          <a:xfrm>
            <a:off x="1843887" y="3383280"/>
            <a:ext cx="2651760" cy="731520"/>
          </a:xfrm>
          <a:prstGeom prst="rect">
            <a:avLst/>
          </a:prstGeom>
          <a:noFill/>
        </p:spPr>
        <p:txBody>
          <a:bodyPr wrap="square">
            <a:spAutoFit/>
          </a:bodyPr>
          <a:lstStyle/>
          <a:p>
            <a:pPr algn="ctr">
              <a:defRPr sz="1400">
                <a:solidFill>
                  <a:srgbClr val="1A2E2A"/>
                </a:solidFill>
              </a:defRPr>
            </a:pPr>
            <a:r>
              <a:t>Total Sales</a:t>
            </a:r>
          </a:p>
        </p:txBody>
      </p:sp>
      <p:sp>
        <p:nvSpPr>
          <p:cNvPr id="9" name="Rounded Rectangle 8"/>
          <p:cNvSpPr/>
          <p:nvPr/>
        </p:nvSpPr>
        <p:spPr>
          <a:xfrm>
            <a:off x="4769967" y="2011680"/>
            <a:ext cx="2651760" cy="228600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69967" y="2011680"/>
            <a:ext cx="2651760"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69967" y="2377440"/>
            <a:ext cx="2651760" cy="914400"/>
          </a:xfrm>
          <a:prstGeom prst="rect">
            <a:avLst/>
          </a:prstGeom>
          <a:noFill/>
        </p:spPr>
        <p:txBody>
          <a:bodyPr wrap="none">
            <a:spAutoFit/>
          </a:bodyPr>
          <a:lstStyle/>
          <a:p>
            <a:pPr algn="ctr">
              <a:defRPr sz="2800" b="1">
                <a:solidFill>
                  <a:srgbClr val="059669"/>
                </a:solidFill>
              </a:defRPr>
            </a:pPr>
            <a:r>
              <a:t>$147.04</a:t>
            </a:r>
          </a:p>
        </p:txBody>
      </p:sp>
      <p:sp>
        <p:nvSpPr>
          <p:cNvPr id="12" name="TextBox 11"/>
          <p:cNvSpPr txBox="1"/>
          <p:nvPr/>
        </p:nvSpPr>
        <p:spPr>
          <a:xfrm>
            <a:off x="4769967" y="3383280"/>
            <a:ext cx="2651760" cy="731520"/>
          </a:xfrm>
          <a:prstGeom prst="rect">
            <a:avLst/>
          </a:prstGeom>
          <a:noFill/>
        </p:spPr>
        <p:txBody>
          <a:bodyPr wrap="square">
            <a:spAutoFit/>
          </a:bodyPr>
          <a:lstStyle/>
          <a:p>
            <a:pPr algn="ctr">
              <a:defRPr sz="1400">
                <a:solidFill>
                  <a:srgbClr val="1A2E2A"/>
                </a:solidFill>
              </a:defRPr>
            </a:pPr>
            <a:r>
              <a:t>Average TV Advertising Spend</a:t>
            </a:r>
          </a:p>
        </p:txBody>
      </p:sp>
      <p:sp>
        <p:nvSpPr>
          <p:cNvPr id="13" name="Rounded Rectangle 12"/>
          <p:cNvSpPr/>
          <p:nvPr/>
        </p:nvSpPr>
        <p:spPr>
          <a:xfrm>
            <a:off x="7696047" y="2011680"/>
            <a:ext cx="2651760" cy="228600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96047" y="2011680"/>
            <a:ext cx="2651760"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96047" y="2377440"/>
            <a:ext cx="2651760" cy="914400"/>
          </a:xfrm>
          <a:prstGeom prst="rect">
            <a:avLst/>
          </a:prstGeom>
          <a:noFill/>
        </p:spPr>
        <p:txBody>
          <a:bodyPr wrap="none">
            <a:spAutoFit/>
          </a:bodyPr>
          <a:lstStyle/>
          <a:p>
            <a:pPr algn="ctr">
              <a:defRPr sz="2800" b="1">
                <a:solidFill>
                  <a:srgbClr val="059669"/>
                </a:solidFill>
              </a:defRPr>
            </a:pPr>
            <a:r>
              <a:t>$12.90</a:t>
            </a:r>
          </a:p>
        </p:txBody>
      </p:sp>
      <p:sp>
        <p:nvSpPr>
          <p:cNvPr id="16" name="TextBox 15"/>
          <p:cNvSpPr txBox="1"/>
          <p:nvPr/>
        </p:nvSpPr>
        <p:spPr>
          <a:xfrm>
            <a:off x="7696047" y="3383280"/>
            <a:ext cx="2651760" cy="731520"/>
          </a:xfrm>
          <a:prstGeom prst="rect">
            <a:avLst/>
          </a:prstGeom>
          <a:noFill/>
        </p:spPr>
        <p:txBody>
          <a:bodyPr wrap="square">
            <a:spAutoFit/>
          </a:bodyPr>
          <a:lstStyle/>
          <a:p>
            <a:pPr algn="ctr">
              <a:defRPr sz="1400">
                <a:solidFill>
                  <a:srgbClr val="1A2E2A"/>
                </a:solidFill>
              </a:defRPr>
            </a:pPr>
            <a:r>
              <a:t>Median Sales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731520"/>
          </a:xfrm>
          <a:prstGeom prst="rect">
            <a:avLst/>
          </a:prstGeom>
          <a:noFill/>
        </p:spPr>
        <p:txBody>
          <a:bodyPr wrap="none">
            <a:spAutoFit/>
          </a:bodyPr>
          <a:lstStyle/>
          <a:p>
            <a:pPr>
              <a:defRPr sz="3200" b="1">
                <a:solidFill>
                  <a:srgbClr val="FFFFFF"/>
                </a:solidFill>
              </a:defRPr>
            </a:pPr>
            <a:r>
              <a:t>Performance Analysis</a:t>
            </a:r>
          </a:p>
        </p:txBody>
      </p:sp>
      <p:sp>
        <p:nvSpPr>
          <p:cNvPr id="5" name="Rounded Rectangle 4"/>
          <p:cNvSpPr/>
          <p:nvPr/>
        </p:nvSpPr>
        <p:spPr>
          <a:xfrm>
            <a:off x="365760" y="1554480"/>
            <a:ext cx="5577840" cy="493776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54480"/>
            <a:ext cx="5577840" cy="548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45920"/>
            <a:ext cx="5303520" cy="457200"/>
          </a:xfrm>
          <a:prstGeom prst="rect">
            <a:avLst/>
          </a:prstGeom>
          <a:noFill/>
        </p:spPr>
        <p:txBody>
          <a:bodyPr wrap="none">
            <a:spAutoFit/>
          </a:bodyPr>
          <a:lstStyle/>
          <a:p>
            <a:pPr>
              <a:defRPr sz="1800" b="1">
                <a:solidFill>
                  <a:srgbClr val="FFFFFF"/>
                </a:solidFill>
              </a:defRPr>
            </a:pPr>
            <a:r>
              <a:t>✓ Top Performers</a:t>
            </a:r>
          </a:p>
        </p:txBody>
      </p:sp>
      <p:sp>
        <p:nvSpPr>
          <p:cNvPr id="8" name="TextBox 7"/>
          <p:cNvSpPr txBox="1"/>
          <p:nvPr/>
        </p:nvSpPr>
        <p:spPr>
          <a:xfrm>
            <a:off x="548640" y="2286000"/>
            <a:ext cx="5303520" cy="4023360"/>
          </a:xfrm>
          <a:prstGeom prst="rect">
            <a:avLst/>
          </a:prstGeom>
          <a:noFill/>
        </p:spPr>
        <p:txBody>
          <a:bodyPr wrap="square">
            <a:spAutoFit/>
          </a:bodyPr>
          <a:lstStyle/>
          <a:p>
            <a:pPr>
              <a:spcBef>
                <a:spcPts val="1000"/>
              </a:spcBef>
              <a:defRPr sz="1500">
                <a:solidFill>
                  <a:srgbClr val="1A2E2A"/>
                </a:solidFill>
              </a:defRPr>
            </a:pPr>
            <a:r>
              <a:t>• TV Advertising: $27.00</a:t>
            </a:r>
          </a:p>
        </p:txBody>
      </p:sp>
      <p:sp>
        <p:nvSpPr>
          <p:cNvPr id="9" name="Rounded Rectangle 8"/>
          <p:cNvSpPr/>
          <p:nvPr/>
        </p:nvSpPr>
        <p:spPr>
          <a:xfrm>
            <a:off x="6217920" y="1554480"/>
            <a:ext cx="5577840" cy="493776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554480"/>
            <a:ext cx="5577840" cy="5486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45920"/>
            <a:ext cx="5303520" cy="457200"/>
          </a:xfrm>
          <a:prstGeom prst="rect">
            <a:avLst/>
          </a:prstGeom>
          <a:noFill/>
        </p:spPr>
        <p:txBody>
          <a:bodyPr wrap="none">
            <a:spAutoFit/>
          </a:bodyPr>
          <a:lstStyle/>
          <a:p>
            <a:pPr>
              <a:defRPr sz="1800" b="1">
                <a:solidFill>
                  <a:srgbClr val="FFFFFF"/>
                </a:solidFill>
              </a:defRPr>
            </a:pPr>
            <a:r>
              <a:t>⚠ Needs Attention</a:t>
            </a:r>
          </a:p>
        </p:txBody>
      </p:sp>
      <p:sp>
        <p:nvSpPr>
          <p:cNvPr id="12" name="TextBox 11"/>
          <p:cNvSpPr txBox="1"/>
          <p:nvPr/>
        </p:nvSpPr>
        <p:spPr>
          <a:xfrm>
            <a:off x="6400800" y="2286000"/>
            <a:ext cx="5303520" cy="4023360"/>
          </a:xfrm>
          <a:prstGeom prst="rect">
            <a:avLst/>
          </a:prstGeom>
          <a:noFill/>
        </p:spPr>
        <p:txBody>
          <a:bodyPr wrap="square">
            <a:spAutoFit/>
          </a:bodyPr>
          <a:lstStyle/>
          <a:p>
            <a:pPr>
              <a:spcBef>
                <a:spcPts val="1000"/>
              </a:spcBef>
              <a:defRPr sz="1500">
                <a:solidFill>
                  <a:srgbClr val="1A2E2A"/>
                </a:solidFill>
              </a:defRPr>
            </a:pPr>
            <a:r>
              <a:t>• Newspaper Advertising: $1.60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731520"/>
          </a:xfrm>
          <a:prstGeom prst="rect">
            <a:avLst/>
          </a:prstGeom>
          <a:noFill/>
        </p:spPr>
        <p:txBody>
          <a:bodyPr wrap="none">
            <a:spAutoFit/>
          </a:bodyPr>
          <a:lstStyle/>
          <a:p>
            <a:pPr>
              <a:defRPr sz="3200" b="1">
                <a:solidFill>
                  <a:srgbClr val="FFFFFF"/>
                </a:solidFill>
              </a:defRPr>
            </a:pPr>
            <a:r>
              <a:t>Trends &amp; Risks</a:t>
            </a:r>
          </a:p>
        </p:txBody>
      </p:sp>
      <p:sp>
        <p:nvSpPr>
          <p:cNvPr id="5" name="TextBox 4"/>
          <p:cNvSpPr txBox="1"/>
          <p:nvPr/>
        </p:nvSpPr>
        <p:spPr>
          <a:xfrm>
            <a:off x="548640" y="1645920"/>
            <a:ext cx="10972800" cy="4754880"/>
          </a:xfrm>
          <a:prstGeom prst="rect">
            <a:avLst/>
          </a:prstGeom>
          <a:noFill/>
        </p:spPr>
        <p:txBody>
          <a:bodyPr wrap="square">
            <a:spAutoFit/>
          </a:bodyPr>
          <a:lstStyle/>
          <a:p>
            <a:pPr>
              <a:spcBef>
                <a:spcPts val="1200"/>
              </a:spcBef>
              <a:spcAft>
                <a:spcPts val="800"/>
              </a:spcAft>
              <a:defRPr sz="1800">
                <a:solidFill>
                  <a:srgbClr val="1A2E2A"/>
                </a:solidFill>
              </a:defRPr>
            </a:pPr>
            <a:r>
              <a:t>→  No significant time-based trends were identified in this dataset</a:t>
            </a:r>
          </a:p>
          <a:p>
            <a:pPr>
              <a:spcBef>
                <a:spcPts val="1200"/>
              </a:spcBef>
              <a:spcAft>
                <a:spcPts val="800"/>
              </a:spcAft>
              <a:defRPr sz="1800">
                <a:solidFill>
                  <a:srgbClr val="1A2E2A"/>
                </a:solidFill>
              </a:defRPr>
            </a:pPr>
            <a:r>
              <a:t>→  No significant anomalies or risks were detected in this dataset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1A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731520"/>
          </a:xfrm>
          <a:prstGeom prst="rect">
            <a:avLst/>
          </a:prstGeom>
          <a:noFill/>
        </p:spPr>
        <p:txBody>
          <a:bodyPr wrap="none">
            <a:spAutoFit/>
          </a:bodyPr>
          <a:lstStyle/>
          <a:p>
            <a:pPr>
              <a:defRPr sz="3200" b="1">
                <a:solidFill>
                  <a:srgbClr val="FFFFFF"/>
                </a:solidFill>
              </a:defRPr>
            </a:pPr>
            <a:r>
              <a:t>Recommendations &amp; Next Steps</a:t>
            </a:r>
          </a:p>
        </p:txBody>
      </p:sp>
      <p:sp>
        <p:nvSpPr>
          <p:cNvPr id="5" name="Oval 4"/>
          <p:cNvSpPr/>
          <p:nvPr/>
        </p:nvSpPr>
        <p:spPr>
          <a:xfrm>
            <a:off x="457200" y="1737360"/>
            <a:ext cx="457200" cy="45720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783080"/>
            <a:ext cx="457200" cy="365760"/>
          </a:xfrm>
          <a:prstGeom prst="rect">
            <a:avLst/>
          </a:prstGeom>
          <a:noFill/>
        </p:spPr>
        <p:txBody>
          <a:bodyPr wrap="none">
            <a:spAutoFit/>
          </a:bodyPr>
          <a:lstStyle/>
          <a:p>
            <a:pPr algn="ctr">
              <a:defRPr sz="1600" b="1">
                <a:solidFill>
                  <a:srgbClr val="FFFFFF"/>
                </a:solidFill>
              </a:defRPr>
            </a:pPr>
            <a:r>
              <a:t>1</a:t>
            </a:r>
          </a:p>
        </p:txBody>
      </p:sp>
      <p:sp>
        <p:nvSpPr>
          <p:cNvPr id="7" name="TextBox 6"/>
          <p:cNvSpPr txBox="1"/>
          <p:nvPr/>
        </p:nvSpPr>
        <p:spPr>
          <a:xfrm>
            <a:off x="1097280" y="1645920"/>
            <a:ext cx="10515600" cy="822960"/>
          </a:xfrm>
          <a:prstGeom prst="rect">
            <a:avLst/>
          </a:prstGeom>
          <a:noFill/>
        </p:spPr>
        <p:txBody>
          <a:bodyPr wrap="square">
            <a:spAutoFit/>
          </a:bodyPr>
          <a:lstStyle/>
          <a:p>
            <a:pPr>
              <a:defRPr sz="1700">
                <a:solidFill>
                  <a:srgbClr val="1A2E2A"/>
                </a:solidFill>
              </a:defRPr>
            </a:pPr>
            <a:r>
              <a:t>**Increase** investment in TV advertising, as it has the highest sales performance with $27.00 and a strong positive correlation (0.78) with total sales, indicating that higher spending in this area is likely to drive greater revenue.</a:t>
            </a:r>
          </a:p>
        </p:txBody>
      </p:sp>
      <p:sp>
        <p:nvSpPr>
          <p:cNvPr id="8" name="Oval 7"/>
          <p:cNvSpPr/>
          <p:nvPr/>
        </p:nvSpPr>
        <p:spPr>
          <a:xfrm>
            <a:off x="457200" y="2697480"/>
            <a:ext cx="457200" cy="45720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457200" cy="365760"/>
          </a:xfrm>
          <a:prstGeom prst="rect">
            <a:avLst/>
          </a:prstGeom>
          <a:noFill/>
        </p:spPr>
        <p:txBody>
          <a:bodyPr wrap="none">
            <a:spAutoFit/>
          </a:bodyPr>
          <a:lstStyle/>
          <a:p>
            <a:pPr algn="ctr">
              <a:defRPr sz="1600" b="1">
                <a:solidFill>
                  <a:srgbClr val="FFFFFF"/>
                </a:solidFill>
              </a:defRPr>
            </a:pPr>
            <a:r>
              <a:t>2</a:t>
            </a:r>
          </a:p>
        </p:txBody>
      </p:sp>
      <p:sp>
        <p:nvSpPr>
          <p:cNvPr id="10" name="TextBox 9"/>
          <p:cNvSpPr txBox="1"/>
          <p:nvPr/>
        </p:nvSpPr>
        <p:spPr>
          <a:xfrm>
            <a:off x="1097280" y="2606040"/>
            <a:ext cx="10515600" cy="822960"/>
          </a:xfrm>
          <a:prstGeom prst="rect">
            <a:avLst/>
          </a:prstGeom>
          <a:noFill/>
        </p:spPr>
        <p:txBody>
          <a:bodyPr wrap="square">
            <a:spAutoFit/>
          </a:bodyPr>
          <a:lstStyle/>
          <a:p>
            <a:pPr>
              <a:defRPr sz="1700">
                <a:solidFill>
                  <a:srgbClr val="1A2E2A"/>
                </a:solidFill>
              </a:defRPr>
            </a:pPr>
            <a:r>
              <a:t>**Reduce** spending on Newspaper advertising, which recorded the lowest sales at $1.60 and has a weak correlation (0.23) with total sales, suggesting that this channel is not effectively contributing to overall sales and may not warrant continued investment.</a:t>
            </a:r>
          </a:p>
        </p:txBody>
      </p:sp>
      <p:sp>
        <p:nvSpPr>
          <p:cNvPr id="11" name="Oval 10"/>
          <p:cNvSpPr/>
          <p:nvPr/>
        </p:nvSpPr>
        <p:spPr>
          <a:xfrm>
            <a:off x="457200" y="3657600"/>
            <a:ext cx="457200" cy="45720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703320"/>
            <a:ext cx="457200" cy="365760"/>
          </a:xfrm>
          <a:prstGeom prst="rect">
            <a:avLst/>
          </a:prstGeom>
          <a:noFill/>
        </p:spPr>
        <p:txBody>
          <a:bodyPr wrap="none">
            <a:spAutoFit/>
          </a:bodyPr>
          <a:lstStyle/>
          <a:p>
            <a:pPr algn="ctr">
              <a:defRPr sz="1600" b="1">
                <a:solidFill>
                  <a:srgbClr val="FFFFFF"/>
                </a:solidFill>
              </a:defRPr>
            </a:pPr>
            <a:r>
              <a:t>3</a:t>
            </a:r>
          </a:p>
        </p:txBody>
      </p:sp>
      <p:sp>
        <p:nvSpPr>
          <p:cNvPr id="13" name="TextBox 12"/>
          <p:cNvSpPr txBox="1"/>
          <p:nvPr/>
        </p:nvSpPr>
        <p:spPr>
          <a:xfrm>
            <a:off x="1097280" y="3566160"/>
            <a:ext cx="10515600" cy="822960"/>
          </a:xfrm>
          <a:prstGeom prst="rect">
            <a:avLst/>
          </a:prstGeom>
          <a:noFill/>
        </p:spPr>
        <p:txBody>
          <a:bodyPr wrap="square">
            <a:spAutoFit/>
          </a:bodyPr>
          <a:lstStyle/>
          <a:p>
            <a:pPr>
              <a:defRPr sz="1700">
                <a:solidFill>
                  <a:srgbClr val="1A2E2A"/>
                </a:solidFill>
              </a:defRPr>
            </a:pPr>
            <a:r>
              <a:t>**Monitor** the performance of Radio advertising, which has a moderate correlation (0.58) with sales. Regularly assess its effectiveness and consider adjustments to optimize its impact on total sales, particularly if TV advertising performance begins to plateau.</a:t>
            </a:r>
          </a:p>
        </p:txBody>
      </p:sp>
      <p:sp>
        <p:nvSpPr>
          <p:cNvPr id="14" name="Oval 13"/>
          <p:cNvSpPr/>
          <p:nvPr/>
        </p:nvSpPr>
        <p:spPr>
          <a:xfrm>
            <a:off x="457200" y="4617720"/>
            <a:ext cx="457200" cy="45720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663440"/>
            <a:ext cx="457200" cy="365760"/>
          </a:xfrm>
          <a:prstGeom prst="rect">
            <a:avLst/>
          </a:prstGeom>
          <a:noFill/>
        </p:spPr>
        <p:txBody>
          <a:bodyPr wrap="none">
            <a:spAutoFit/>
          </a:bodyPr>
          <a:lstStyle/>
          <a:p>
            <a:pPr algn="ctr">
              <a:defRPr sz="1600" b="1">
                <a:solidFill>
                  <a:srgbClr val="FFFFFF"/>
                </a:solidFill>
              </a:defRPr>
            </a:pPr>
            <a:r>
              <a:t>4</a:t>
            </a:r>
          </a:p>
        </p:txBody>
      </p:sp>
      <p:sp>
        <p:nvSpPr>
          <p:cNvPr id="16" name="TextBox 15"/>
          <p:cNvSpPr txBox="1"/>
          <p:nvPr/>
        </p:nvSpPr>
        <p:spPr>
          <a:xfrm>
            <a:off x="1097280" y="4526280"/>
            <a:ext cx="10515600" cy="822960"/>
          </a:xfrm>
          <a:prstGeom prst="rect">
            <a:avLst/>
          </a:prstGeom>
          <a:noFill/>
        </p:spPr>
        <p:txBody>
          <a:bodyPr wrap="square">
            <a:spAutoFit/>
          </a:bodyPr>
          <a:lstStyle/>
          <a:p>
            <a:pPr>
              <a:defRPr sz="1700">
                <a:solidFill>
                  <a:srgbClr val="1A2E2A"/>
                </a:solidFill>
              </a:defRPr>
            </a:pPr>
            <a:r>
              <a:t>**Investigate** the factors contributing to the low sales from Newspaper advertising. Conduct a deeper analysis to understand why this channel is underperforming and explore potential changes in strategy or content that could enhance its effectiveness.</a:t>
            </a:r>
          </a:p>
        </p:txBody>
      </p:sp>
      <p:sp>
        <p:nvSpPr>
          <p:cNvPr id="17" name="Oval 16"/>
          <p:cNvSpPr/>
          <p:nvPr/>
        </p:nvSpPr>
        <p:spPr>
          <a:xfrm>
            <a:off x="457200" y="5577840"/>
            <a:ext cx="457200" cy="45720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623560"/>
            <a:ext cx="457200" cy="365760"/>
          </a:xfrm>
          <a:prstGeom prst="rect">
            <a:avLst/>
          </a:prstGeom>
          <a:noFill/>
        </p:spPr>
        <p:txBody>
          <a:bodyPr wrap="none">
            <a:spAutoFit/>
          </a:bodyPr>
          <a:lstStyle/>
          <a:p>
            <a:pPr algn="ctr">
              <a:defRPr sz="1600" b="1">
                <a:solidFill>
                  <a:srgbClr val="FFFFFF"/>
                </a:solidFill>
              </a:defRPr>
            </a:pPr>
            <a:r>
              <a:t>5</a:t>
            </a:r>
          </a:p>
        </p:txBody>
      </p:sp>
      <p:sp>
        <p:nvSpPr>
          <p:cNvPr id="19" name="TextBox 18"/>
          <p:cNvSpPr txBox="1"/>
          <p:nvPr/>
        </p:nvSpPr>
        <p:spPr>
          <a:xfrm>
            <a:off x="1097280" y="5486400"/>
            <a:ext cx="10515600" cy="822960"/>
          </a:xfrm>
          <a:prstGeom prst="rect">
            <a:avLst/>
          </a:prstGeom>
          <a:noFill/>
        </p:spPr>
        <p:txBody>
          <a:bodyPr wrap="square">
            <a:spAutoFit/>
          </a:bodyPr>
          <a:lstStyle/>
          <a:p>
            <a:pPr>
              <a:defRPr sz="1700">
                <a:solidFill>
                  <a:srgbClr val="1A2E2A"/>
                </a:solidFill>
              </a:defRPr>
            </a:pPr>
            <a:r>
              <a:t>**Analyze** the overall sales trends over time to identify any seasonal patterns or shifts in consumer behavior that may impact advertising effectiveness. This will help in making informed decisions about future advertising strategies and budget allocations.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