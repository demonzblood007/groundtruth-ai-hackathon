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560320"/>
            <a:ext cx="365760" cy="16459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377440"/>
            <a:ext cx="10058400" cy="1371600"/>
          </a:xfrm>
          <a:prstGeom prst="rect">
            <a:avLst/>
          </a:prstGeom>
          <a:noFill/>
        </p:spPr>
        <p:txBody>
          <a:bodyPr wrap="none">
            <a:spAutoFit/>
          </a:bodyPr>
          <a:lstStyle/>
          <a:p>
            <a:pPr>
              <a:defRPr sz="4800" b="1">
                <a:solidFill>
                  <a:srgbClr val="FFFFFF"/>
                </a:solidFill>
              </a:defRPr>
            </a:pPr>
            <a:r>
              <a:t>H-OOI Analysis Report</a:t>
            </a:r>
          </a:p>
        </p:txBody>
      </p:sp>
      <p:sp>
        <p:nvSpPr>
          <p:cNvPr id="6" name="TextBox 5"/>
          <p:cNvSpPr txBox="1"/>
          <p:nvPr/>
        </p:nvSpPr>
        <p:spPr>
          <a:xfrm>
            <a:off x="731520" y="3931920"/>
            <a:ext cx="10058400" cy="914400"/>
          </a:xfrm>
          <a:prstGeom prst="rect">
            <a:avLst/>
          </a:prstGeom>
          <a:noFill/>
        </p:spPr>
        <p:txBody>
          <a:bodyPr wrap="none">
            <a:spAutoFit/>
          </a:bodyPr>
          <a:lstStyle/>
          <a:p>
            <a:pPr>
              <a:defRPr sz="2200">
                <a:solidFill>
                  <a:srgbClr val="10B981"/>
                </a:solidFill>
              </a:defRPr>
            </a:pPr>
            <a:r>
              <a:t>Dataset: ac66852d | 200 rows × 5 columns | December 03, 2025</a:t>
            </a:r>
          </a:p>
        </p:txBody>
      </p:sp>
      <p:sp>
        <p:nvSpPr>
          <p:cNvPr id="7" name="Rectangle 6"/>
          <p:cNvSpPr/>
          <p:nvPr/>
        </p:nvSpPr>
        <p:spPr>
          <a:xfrm>
            <a:off x="0" y="6720840"/>
            <a:ext cx="12191695" cy="1371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FFFFFF"/>
                </a:solidFill>
              </a:defRPr>
            </a:pPr>
            <a:r>
              <a:t>Executive Summary</a:t>
            </a:r>
          </a:p>
        </p:txBody>
      </p:sp>
      <p:sp>
        <p:nvSpPr>
          <p:cNvPr id="5" name="TextBox 4"/>
          <p:cNvSpPr txBox="1"/>
          <p:nvPr/>
        </p:nvSpPr>
        <p:spPr>
          <a:xfrm>
            <a:off x="548640" y="1645920"/>
            <a:ext cx="10972800" cy="1828800"/>
          </a:xfrm>
          <a:prstGeom prst="rect">
            <a:avLst/>
          </a:prstGeom>
          <a:noFill/>
        </p:spPr>
        <p:txBody>
          <a:bodyPr wrap="square">
            <a:spAutoFit/>
          </a:bodyPr>
          <a:lstStyle/>
          <a:p>
            <a:pPr>
              <a:defRPr sz="1600">
                <a:solidFill>
                  <a:srgbClr val="1A2E2A"/>
                </a:solidFill>
              </a:defRPr>
            </a:pPr>
            <a:r>
              <a:t>The analysis reveals that total sales reached $2,804.50, underscoring a solid revenue foundation. A standout achievement is the average TV advertising spend of $147.04, which correlates positively with sales performance, indicating effective allocation of marketing resources. Notably, TV advertising emerged as a top performer, generating the highest sales of $27.00, demonstrating its significant impact on revenue generation.</a:t>
            </a:r>
            <a:br/>
            <a:br/>
            <a:r>
              <a:t>While the median sales figure stands at $12.90, suggesting a diverse range of sales outcomes, it also highlights potential areas for improvement in sales consistency. Cur...</a:t>
            </a:r>
          </a:p>
        </p:txBody>
      </p:sp>
      <p:sp>
        <p:nvSpPr>
          <p:cNvPr id="6" name="TextBox 5"/>
          <p:cNvSpPr txBox="1"/>
          <p:nvPr/>
        </p:nvSpPr>
        <p:spPr>
          <a:xfrm>
            <a:off x="548640" y="3657600"/>
            <a:ext cx="10972800" cy="2743200"/>
          </a:xfrm>
          <a:prstGeom prst="rect">
            <a:avLst/>
          </a:prstGeom>
          <a:noFill/>
        </p:spPr>
        <p:txBody>
          <a:bodyPr wrap="square">
            <a:spAutoFit/>
          </a:bodyPr>
          <a:lstStyle/>
          <a:p>
            <a:pPr>
              <a:spcBef>
                <a:spcPts val="1200"/>
              </a:spcBef>
              <a:spcAft>
                <a:spcPts val="800"/>
              </a:spcAft>
              <a:defRPr sz="1800">
                <a:solidFill>
                  <a:srgbClr val="1A2E2A"/>
                </a:solidFill>
              </a:defRPr>
            </a:pPr>
            <a:r>
              <a:t>→  The analysis reveals that total sales reached $2,804</a:t>
            </a:r>
          </a:p>
          <a:p>
            <a:pPr>
              <a:spcBef>
                <a:spcPts val="1200"/>
              </a:spcBef>
              <a:spcAft>
                <a:spcPts val="800"/>
              </a:spcAft>
              <a:defRPr sz="1800">
                <a:solidFill>
                  <a:srgbClr val="1A2E2A"/>
                </a:solidFill>
              </a:defRPr>
            </a:pPr>
            <a:r>
              <a:t>→  50, underscoring a solid revenue foundation</a:t>
            </a:r>
          </a:p>
          <a:p>
            <a:pPr>
              <a:spcBef>
                <a:spcPts val="1200"/>
              </a:spcBef>
              <a:spcAft>
                <a:spcPts val="800"/>
              </a:spcAft>
              <a:defRPr sz="1800">
                <a:solidFill>
                  <a:srgbClr val="1A2E2A"/>
                </a:solidFill>
              </a:defRPr>
            </a:pPr>
            <a:r>
              <a:t>→  A standout achievement is the average TV advertising spend of $147</a:t>
            </a:r>
          </a:p>
          <a:p>
            <a:pPr>
              <a:spcBef>
                <a:spcPts val="1200"/>
              </a:spcBef>
              <a:spcAft>
                <a:spcPts val="800"/>
              </a:spcAft>
              <a:defRPr sz="1800">
                <a:solidFill>
                  <a:srgbClr val="1A2E2A"/>
                </a:solidFill>
              </a:defRPr>
            </a:pPr>
            <a:r>
              <a:t>→  04, which correlates positively with sales performance, indicating effective allocation of marketing resources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FFFFFF"/>
                </a:solidFill>
              </a:defRPr>
            </a:pPr>
            <a:r>
              <a:t>Key Metrics</a:t>
            </a:r>
          </a:p>
        </p:txBody>
      </p:sp>
      <p:sp>
        <p:nvSpPr>
          <p:cNvPr id="5" name="Rounded Rectangle 4"/>
          <p:cNvSpPr/>
          <p:nvPr/>
        </p:nvSpPr>
        <p:spPr>
          <a:xfrm>
            <a:off x="1843887" y="2011680"/>
            <a:ext cx="2651760" cy="228600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43887" y="2011680"/>
            <a:ext cx="265176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43887" y="2377440"/>
            <a:ext cx="2651760" cy="914400"/>
          </a:xfrm>
          <a:prstGeom prst="rect">
            <a:avLst/>
          </a:prstGeom>
          <a:noFill/>
        </p:spPr>
        <p:txBody>
          <a:bodyPr wrap="none">
            <a:spAutoFit/>
          </a:bodyPr>
          <a:lstStyle/>
          <a:p>
            <a:pPr algn="ctr">
              <a:defRPr sz="2800" b="1">
                <a:solidFill>
                  <a:srgbClr val="059669"/>
                </a:solidFill>
              </a:defRPr>
            </a:pPr>
            <a:r>
              <a:t>$2,804.50</a:t>
            </a:r>
          </a:p>
        </p:txBody>
      </p:sp>
      <p:sp>
        <p:nvSpPr>
          <p:cNvPr id="8" name="TextBox 7"/>
          <p:cNvSpPr txBox="1"/>
          <p:nvPr/>
        </p:nvSpPr>
        <p:spPr>
          <a:xfrm>
            <a:off x="1843887" y="3383280"/>
            <a:ext cx="2651760" cy="731520"/>
          </a:xfrm>
          <a:prstGeom prst="rect">
            <a:avLst/>
          </a:prstGeom>
          <a:noFill/>
        </p:spPr>
        <p:txBody>
          <a:bodyPr wrap="square">
            <a:spAutoFit/>
          </a:bodyPr>
          <a:lstStyle/>
          <a:p>
            <a:pPr algn="ctr">
              <a:defRPr sz="1400">
                <a:solidFill>
                  <a:srgbClr val="1A2E2A"/>
                </a:solidFill>
              </a:defRPr>
            </a:pPr>
            <a:r>
              <a:t>Total Sales</a:t>
            </a:r>
          </a:p>
        </p:txBody>
      </p:sp>
      <p:sp>
        <p:nvSpPr>
          <p:cNvPr id="9" name="Rounded Rectangle 8"/>
          <p:cNvSpPr/>
          <p:nvPr/>
        </p:nvSpPr>
        <p:spPr>
          <a:xfrm>
            <a:off x="4769967" y="2011680"/>
            <a:ext cx="2651760" cy="228600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69967" y="2011680"/>
            <a:ext cx="265176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69967" y="2377440"/>
            <a:ext cx="2651760" cy="914400"/>
          </a:xfrm>
          <a:prstGeom prst="rect">
            <a:avLst/>
          </a:prstGeom>
          <a:noFill/>
        </p:spPr>
        <p:txBody>
          <a:bodyPr wrap="none">
            <a:spAutoFit/>
          </a:bodyPr>
          <a:lstStyle/>
          <a:p>
            <a:pPr algn="ctr">
              <a:defRPr sz="2800" b="1">
                <a:solidFill>
                  <a:srgbClr val="059669"/>
                </a:solidFill>
              </a:defRPr>
            </a:pPr>
            <a:r>
              <a:t>$147.04</a:t>
            </a:r>
          </a:p>
        </p:txBody>
      </p:sp>
      <p:sp>
        <p:nvSpPr>
          <p:cNvPr id="12" name="TextBox 11"/>
          <p:cNvSpPr txBox="1"/>
          <p:nvPr/>
        </p:nvSpPr>
        <p:spPr>
          <a:xfrm>
            <a:off x="4769967" y="3383280"/>
            <a:ext cx="2651760" cy="731520"/>
          </a:xfrm>
          <a:prstGeom prst="rect">
            <a:avLst/>
          </a:prstGeom>
          <a:noFill/>
        </p:spPr>
        <p:txBody>
          <a:bodyPr wrap="square">
            <a:spAutoFit/>
          </a:bodyPr>
          <a:lstStyle/>
          <a:p>
            <a:pPr algn="ctr">
              <a:defRPr sz="1400">
                <a:solidFill>
                  <a:srgbClr val="1A2E2A"/>
                </a:solidFill>
              </a:defRPr>
            </a:pPr>
            <a:r>
              <a:t>Average TV Advertising Spend</a:t>
            </a:r>
          </a:p>
        </p:txBody>
      </p:sp>
      <p:sp>
        <p:nvSpPr>
          <p:cNvPr id="13" name="Rounded Rectangle 12"/>
          <p:cNvSpPr/>
          <p:nvPr/>
        </p:nvSpPr>
        <p:spPr>
          <a:xfrm>
            <a:off x="7696047" y="2011680"/>
            <a:ext cx="2651760" cy="228600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96047" y="2011680"/>
            <a:ext cx="2651760" cy="1097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96047" y="2377440"/>
            <a:ext cx="2651760" cy="914400"/>
          </a:xfrm>
          <a:prstGeom prst="rect">
            <a:avLst/>
          </a:prstGeom>
          <a:noFill/>
        </p:spPr>
        <p:txBody>
          <a:bodyPr wrap="none">
            <a:spAutoFit/>
          </a:bodyPr>
          <a:lstStyle/>
          <a:p>
            <a:pPr algn="ctr">
              <a:defRPr sz="2800" b="1">
                <a:solidFill>
                  <a:srgbClr val="059669"/>
                </a:solidFill>
              </a:defRPr>
            </a:pPr>
            <a:r>
              <a:t>$12.90</a:t>
            </a:r>
          </a:p>
        </p:txBody>
      </p:sp>
      <p:sp>
        <p:nvSpPr>
          <p:cNvPr id="16" name="TextBox 15"/>
          <p:cNvSpPr txBox="1"/>
          <p:nvPr/>
        </p:nvSpPr>
        <p:spPr>
          <a:xfrm>
            <a:off x="7696047" y="3383280"/>
            <a:ext cx="2651760" cy="731520"/>
          </a:xfrm>
          <a:prstGeom prst="rect">
            <a:avLst/>
          </a:prstGeom>
          <a:noFill/>
        </p:spPr>
        <p:txBody>
          <a:bodyPr wrap="square">
            <a:spAutoFit/>
          </a:bodyPr>
          <a:lstStyle/>
          <a:p>
            <a:pPr algn="ctr">
              <a:defRPr sz="1400">
                <a:solidFill>
                  <a:srgbClr val="1A2E2A"/>
                </a:solidFill>
              </a:defRPr>
            </a:pPr>
            <a:r>
              <a:t>Median Sales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FFFFFF"/>
                </a:solidFill>
              </a:defRPr>
            </a:pPr>
            <a:r>
              <a:t>Performance Analysis</a:t>
            </a:r>
          </a:p>
        </p:txBody>
      </p:sp>
      <p:sp>
        <p:nvSpPr>
          <p:cNvPr id="5" name="Rounded Rectangle 4"/>
          <p:cNvSpPr/>
          <p:nvPr/>
        </p:nvSpPr>
        <p:spPr>
          <a:xfrm>
            <a:off x="365760" y="1554480"/>
            <a:ext cx="5577840" cy="493776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5577840"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45920"/>
            <a:ext cx="5303520" cy="457200"/>
          </a:xfrm>
          <a:prstGeom prst="rect">
            <a:avLst/>
          </a:prstGeom>
          <a:noFill/>
        </p:spPr>
        <p:txBody>
          <a:bodyPr wrap="none">
            <a:spAutoFit/>
          </a:bodyPr>
          <a:lstStyle/>
          <a:p>
            <a:pPr>
              <a:defRPr sz="1800" b="1">
                <a:solidFill>
                  <a:srgbClr val="FFFFFF"/>
                </a:solidFill>
              </a:defRPr>
            </a:pPr>
            <a:r>
              <a:t>✓ Top Performers</a:t>
            </a:r>
          </a:p>
        </p:txBody>
      </p:sp>
      <p:sp>
        <p:nvSpPr>
          <p:cNvPr id="8" name="TextBox 7"/>
          <p:cNvSpPr txBox="1"/>
          <p:nvPr/>
        </p:nvSpPr>
        <p:spPr>
          <a:xfrm>
            <a:off x="548640" y="2286000"/>
            <a:ext cx="5303520" cy="4023360"/>
          </a:xfrm>
          <a:prstGeom prst="rect">
            <a:avLst/>
          </a:prstGeom>
          <a:noFill/>
        </p:spPr>
        <p:txBody>
          <a:bodyPr wrap="square">
            <a:spAutoFit/>
          </a:bodyPr>
          <a:lstStyle/>
          <a:p>
            <a:pPr>
              <a:spcBef>
                <a:spcPts val="1000"/>
              </a:spcBef>
              <a:defRPr sz="1500">
                <a:solidFill>
                  <a:srgbClr val="1A2E2A"/>
                </a:solidFill>
              </a:defRPr>
            </a:pPr>
            <a:r>
              <a:t>• TV Advertising: $27.00</a:t>
            </a:r>
          </a:p>
        </p:txBody>
      </p:sp>
      <p:sp>
        <p:nvSpPr>
          <p:cNvPr id="9" name="Rounded Rectangle 8"/>
          <p:cNvSpPr/>
          <p:nvPr/>
        </p:nvSpPr>
        <p:spPr>
          <a:xfrm>
            <a:off x="6217920" y="1554480"/>
            <a:ext cx="5577840" cy="4937760"/>
          </a:xfrm>
          <a:prstGeom prst="round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554480"/>
            <a:ext cx="5577840" cy="5486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45920"/>
            <a:ext cx="5303520" cy="457200"/>
          </a:xfrm>
          <a:prstGeom prst="rect">
            <a:avLst/>
          </a:prstGeom>
          <a:noFill/>
        </p:spPr>
        <p:txBody>
          <a:bodyPr wrap="none">
            <a:spAutoFit/>
          </a:bodyPr>
          <a:lstStyle/>
          <a:p>
            <a:pPr>
              <a:defRPr sz="1800" b="1">
                <a:solidFill>
                  <a:srgbClr val="FFFFFF"/>
                </a:solidFill>
              </a:defRPr>
            </a:pPr>
            <a:r>
              <a:t>⚠ Needs Attention</a:t>
            </a:r>
          </a:p>
        </p:txBody>
      </p:sp>
      <p:sp>
        <p:nvSpPr>
          <p:cNvPr id="12" name="TextBox 11"/>
          <p:cNvSpPr txBox="1"/>
          <p:nvPr/>
        </p:nvSpPr>
        <p:spPr>
          <a:xfrm>
            <a:off x="6400800" y="2286000"/>
            <a:ext cx="5303520" cy="4023360"/>
          </a:xfrm>
          <a:prstGeom prst="rect">
            <a:avLst/>
          </a:prstGeom>
          <a:noFill/>
        </p:spPr>
        <p:txBody>
          <a:bodyPr wrap="square">
            <a:spAutoFit/>
          </a:bodyPr>
          <a:lstStyle/>
          <a:p>
            <a:pPr>
              <a:spcBef>
                <a:spcPts val="1000"/>
              </a:spcBef>
              <a:defRPr sz="1500">
                <a:solidFill>
                  <a:srgbClr val="1A2E2A"/>
                </a:solidFill>
              </a:defRPr>
            </a:pPr>
            <a:r>
              <a:t>• Newspaper Advertising: $1.60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FFFFFF"/>
                </a:solidFill>
              </a:defRPr>
            </a:pPr>
            <a:r>
              <a:t>Trends &amp; Risks</a:t>
            </a:r>
          </a:p>
        </p:txBody>
      </p:sp>
      <p:sp>
        <p:nvSpPr>
          <p:cNvPr id="5" name="TextBox 4"/>
          <p:cNvSpPr txBox="1"/>
          <p:nvPr/>
        </p:nvSpPr>
        <p:spPr>
          <a:xfrm>
            <a:off x="548640" y="1645920"/>
            <a:ext cx="10972800" cy="4754880"/>
          </a:xfrm>
          <a:prstGeom prst="rect">
            <a:avLst/>
          </a:prstGeom>
          <a:noFill/>
        </p:spPr>
        <p:txBody>
          <a:bodyPr wrap="square">
            <a:spAutoFit/>
          </a:bodyPr>
          <a:lstStyle/>
          <a:p>
            <a:pPr>
              <a:spcBef>
                <a:spcPts val="1200"/>
              </a:spcBef>
              <a:spcAft>
                <a:spcPts val="800"/>
              </a:spcAft>
              <a:defRPr sz="1800">
                <a:solidFill>
                  <a:srgbClr val="1A2E2A"/>
                </a:solidFill>
              </a:defRPr>
            </a:pPr>
            <a:r>
              <a:t>→  No significant time-based trends were identified in this dataset</a:t>
            </a:r>
          </a:p>
          <a:p>
            <a:pPr>
              <a:spcBef>
                <a:spcPts val="1200"/>
              </a:spcBef>
              <a:spcAft>
                <a:spcPts val="800"/>
              </a:spcAft>
              <a:defRPr sz="1800">
                <a:solidFill>
                  <a:srgbClr val="1A2E2A"/>
                </a:solidFill>
              </a:defRPr>
            </a:pPr>
            <a:r>
              <a:t>→  No significant anomalies or risks were detected in this dataset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0"/>
          </a:xfrm>
          <a:prstGeom prst="rect">
            <a:avLst/>
          </a:prstGeom>
          <a:solidFill>
            <a:srgbClr val="1A2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91695"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731520"/>
          </a:xfrm>
          <a:prstGeom prst="rect">
            <a:avLst/>
          </a:prstGeom>
          <a:noFill/>
        </p:spPr>
        <p:txBody>
          <a:bodyPr wrap="none">
            <a:spAutoFit/>
          </a:bodyPr>
          <a:lstStyle/>
          <a:p>
            <a:pPr>
              <a:defRPr sz="3200" b="1">
                <a:solidFill>
                  <a:srgbClr val="FFFFFF"/>
                </a:solidFill>
              </a:defRPr>
            </a:pPr>
            <a:r>
              <a:t>Recommendations &amp; Next Steps</a:t>
            </a:r>
          </a:p>
        </p:txBody>
      </p:sp>
      <p:sp>
        <p:nvSpPr>
          <p:cNvPr id="5" name="Oval 4"/>
          <p:cNvSpPr/>
          <p:nvPr/>
        </p:nvSpPr>
        <p:spPr>
          <a:xfrm>
            <a:off x="457200" y="1737360"/>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83080"/>
            <a:ext cx="457200" cy="365760"/>
          </a:xfrm>
          <a:prstGeom prst="rect">
            <a:avLst/>
          </a:prstGeom>
          <a:noFill/>
        </p:spPr>
        <p:txBody>
          <a:bodyPr wrap="none">
            <a:spAutoFit/>
          </a:bodyPr>
          <a:lstStyle/>
          <a:p>
            <a:pPr algn="ctr">
              <a:defRPr sz="1600" b="1">
                <a:solidFill>
                  <a:srgbClr val="FFFFFF"/>
                </a:solidFill>
              </a:defRPr>
            </a:pPr>
            <a:r>
              <a:t>1</a:t>
            </a:r>
          </a:p>
        </p:txBody>
      </p:sp>
      <p:sp>
        <p:nvSpPr>
          <p:cNvPr id="7" name="TextBox 6"/>
          <p:cNvSpPr txBox="1"/>
          <p:nvPr/>
        </p:nvSpPr>
        <p:spPr>
          <a:xfrm>
            <a:off x="1097280" y="1645920"/>
            <a:ext cx="10515600" cy="822960"/>
          </a:xfrm>
          <a:prstGeom prst="rect">
            <a:avLst/>
          </a:prstGeom>
          <a:noFill/>
        </p:spPr>
        <p:txBody>
          <a:bodyPr wrap="square">
            <a:spAutoFit/>
          </a:bodyPr>
          <a:lstStyle/>
          <a:p>
            <a:pPr>
              <a:defRPr sz="1700">
                <a:solidFill>
                  <a:srgbClr val="1A2E2A"/>
                </a:solidFill>
              </a:defRPr>
            </a:pPr>
            <a:r>
              <a:t>**Increase** investment in TV advertising, as it generated the highest sales of $27.00 compared to other channels, indicating a strong return on investment and potential for further growth.</a:t>
            </a:r>
          </a:p>
        </p:txBody>
      </p:sp>
      <p:sp>
        <p:nvSpPr>
          <p:cNvPr id="8" name="Oval 7"/>
          <p:cNvSpPr/>
          <p:nvPr/>
        </p:nvSpPr>
        <p:spPr>
          <a:xfrm>
            <a:off x="457200" y="2697480"/>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743200"/>
            <a:ext cx="457200" cy="365760"/>
          </a:xfrm>
          <a:prstGeom prst="rect">
            <a:avLst/>
          </a:prstGeom>
          <a:noFill/>
        </p:spPr>
        <p:txBody>
          <a:bodyPr wrap="none">
            <a:spAutoFit/>
          </a:bodyPr>
          <a:lstStyle/>
          <a:p>
            <a:pPr algn="ctr">
              <a:defRPr sz="1600" b="1">
                <a:solidFill>
                  <a:srgbClr val="FFFFFF"/>
                </a:solidFill>
              </a:defRPr>
            </a:pPr>
            <a:r>
              <a:t>2</a:t>
            </a:r>
          </a:p>
        </p:txBody>
      </p:sp>
      <p:sp>
        <p:nvSpPr>
          <p:cNvPr id="10" name="TextBox 9"/>
          <p:cNvSpPr txBox="1"/>
          <p:nvPr/>
        </p:nvSpPr>
        <p:spPr>
          <a:xfrm>
            <a:off x="1097280" y="2606040"/>
            <a:ext cx="10515600" cy="822960"/>
          </a:xfrm>
          <a:prstGeom prst="rect">
            <a:avLst/>
          </a:prstGeom>
          <a:noFill/>
        </p:spPr>
        <p:txBody>
          <a:bodyPr wrap="square">
            <a:spAutoFit/>
          </a:bodyPr>
          <a:lstStyle/>
          <a:p>
            <a:pPr>
              <a:defRPr sz="1700">
                <a:solidFill>
                  <a:srgbClr val="1A2E2A"/>
                </a:solidFill>
              </a:defRPr>
            </a:pPr>
            <a:r>
              <a:t>**Reduce** spending on newspaper advertising, which only produced $1.60 in sales, the lowest among all advertising channels. This suggests that resources could be better allocated to more effective marketing strategies.</a:t>
            </a:r>
          </a:p>
        </p:txBody>
      </p:sp>
      <p:sp>
        <p:nvSpPr>
          <p:cNvPr id="11" name="Oval 10"/>
          <p:cNvSpPr/>
          <p:nvPr/>
        </p:nvSpPr>
        <p:spPr>
          <a:xfrm>
            <a:off x="457200" y="3657600"/>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703320"/>
            <a:ext cx="457200" cy="365760"/>
          </a:xfrm>
          <a:prstGeom prst="rect">
            <a:avLst/>
          </a:prstGeom>
          <a:noFill/>
        </p:spPr>
        <p:txBody>
          <a:bodyPr wrap="none">
            <a:spAutoFit/>
          </a:bodyPr>
          <a:lstStyle/>
          <a:p>
            <a:pPr algn="ctr">
              <a:defRPr sz="1600" b="1">
                <a:solidFill>
                  <a:srgbClr val="FFFFFF"/>
                </a:solidFill>
              </a:defRPr>
            </a:pPr>
            <a:r>
              <a:t>3</a:t>
            </a:r>
          </a:p>
        </p:txBody>
      </p:sp>
      <p:sp>
        <p:nvSpPr>
          <p:cNvPr id="13" name="TextBox 12"/>
          <p:cNvSpPr txBox="1"/>
          <p:nvPr/>
        </p:nvSpPr>
        <p:spPr>
          <a:xfrm>
            <a:off x="1097280" y="3566160"/>
            <a:ext cx="10515600" cy="822960"/>
          </a:xfrm>
          <a:prstGeom prst="rect">
            <a:avLst/>
          </a:prstGeom>
          <a:noFill/>
        </p:spPr>
        <p:txBody>
          <a:bodyPr wrap="square">
            <a:spAutoFit/>
          </a:bodyPr>
          <a:lstStyle/>
          <a:p>
            <a:pPr>
              <a:defRPr sz="1700">
                <a:solidFill>
                  <a:srgbClr val="1A2E2A"/>
                </a:solidFill>
              </a:defRPr>
            </a:pPr>
            <a:r>
              <a:t>**Monitor** total sales closely, currently at $2,804.50, to identify any emerging trends or fluctuations that could inform future marketing strategies and budget allocations.</a:t>
            </a:r>
          </a:p>
        </p:txBody>
      </p:sp>
      <p:sp>
        <p:nvSpPr>
          <p:cNvPr id="14" name="Oval 13"/>
          <p:cNvSpPr/>
          <p:nvPr/>
        </p:nvSpPr>
        <p:spPr>
          <a:xfrm>
            <a:off x="457200" y="4617720"/>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663440"/>
            <a:ext cx="457200" cy="365760"/>
          </a:xfrm>
          <a:prstGeom prst="rect">
            <a:avLst/>
          </a:prstGeom>
          <a:noFill/>
        </p:spPr>
        <p:txBody>
          <a:bodyPr wrap="none">
            <a:spAutoFit/>
          </a:bodyPr>
          <a:lstStyle/>
          <a:p>
            <a:pPr algn="ctr">
              <a:defRPr sz="1600" b="1">
                <a:solidFill>
                  <a:srgbClr val="FFFFFF"/>
                </a:solidFill>
              </a:defRPr>
            </a:pPr>
            <a:r>
              <a:t>4</a:t>
            </a:r>
          </a:p>
        </p:txBody>
      </p:sp>
      <p:sp>
        <p:nvSpPr>
          <p:cNvPr id="16" name="TextBox 15"/>
          <p:cNvSpPr txBox="1"/>
          <p:nvPr/>
        </p:nvSpPr>
        <p:spPr>
          <a:xfrm>
            <a:off x="1097280" y="4526280"/>
            <a:ext cx="10515600" cy="822960"/>
          </a:xfrm>
          <a:prstGeom prst="rect">
            <a:avLst/>
          </a:prstGeom>
          <a:noFill/>
        </p:spPr>
        <p:txBody>
          <a:bodyPr wrap="square">
            <a:spAutoFit/>
          </a:bodyPr>
          <a:lstStyle/>
          <a:p>
            <a:pPr>
              <a:defRPr sz="1700">
                <a:solidFill>
                  <a:srgbClr val="1A2E2A"/>
                </a:solidFill>
              </a:defRPr>
            </a:pPr>
            <a:r>
              <a:t>**Investigate** the factors contributing to the low performance of newspaper advertising, as it is significantly underperforming compared to other channels. Understanding these factors could help in making informed decisions about future advertising strategies.</a:t>
            </a:r>
          </a:p>
        </p:txBody>
      </p:sp>
      <p:sp>
        <p:nvSpPr>
          <p:cNvPr id="17" name="Oval 16"/>
          <p:cNvSpPr/>
          <p:nvPr/>
        </p:nvSpPr>
        <p:spPr>
          <a:xfrm>
            <a:off x="457200" y="5577840"/>
            <a:ext cx="457200" cy="4572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623560"/>
            <a:ext cx="457200" cy="365760"/>
          </a:xfrm>
          <a:prstGeom prst="rect">
            <a:avLst/>
          </a:prstGeom>
          <a:noFill/>
        </p:spPr>
        <p:txBody>
          <a:bodyPr wrap="none">
            <a:spAutoFit/>
          </a:bodyPr>
          <a:lstStyle/>
          <a:p>
            <a:pPr algn="ctr">
              <a:defRPr sz="1600" b="1">
                <a:solidFill>
                  <a:srgbClr val="FFFFFF"/>
                </a:solidFill>
              </a:defRPr>
            </a:pPr>
            <a:r>
              <a:t>5</a:t>
            </a:r>
          </a:p>
        </p:txBody>
      </p:sp>
      <p:sp>
        <p:nvSpPr>
          <p:cNvPr id="19" name="TextBox 18"/>
          <p:cNvSpPr txBox="1"/>
          <p:nvPr/>
        </p:nvSpPr>
        <p:spPr>
          <a:xfrm>
            <a:off x="1097280" y="5486400"/>
            <a:ext cx="10515600" cy="822960"/>
          </a:xfrm>
          <a:prstGeom prst="rect">
            <a:avLst/>
          </a:prstGeom>
          <a:noFill/>
        </p:spPr>
        <p:txBody>
          <a:bodyPr wrap="square">
            <a:spAutoFit/>
          </a:bodyPr>
          <a:lstStyle/>
          <a:p>
            <a:pPr>
              <a:defRPr sz="1700">
                <a:solidFill>
                  <a:srgbClr val="1A2E2A"/>
                </a:solidFill>
              </a:defRPr>
            </a:pPr>
            <a:r>
              <a:t>**Explore** additional advertising channels or strategies to complement the current efforts, given that the dataset contains 200 rows and 5 columns with no missing values, indicating a robust dataset that could reveal insights into other potential marketing avenues.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